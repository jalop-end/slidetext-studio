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 type="screen16x9"/>
  <p:sldIdLst>
    <p:sldId id="256" r:id="rId1"/>
    <p:sldId id="257" r:id="rId2"/>
    <p:sldId id="258" r:id="rId3"/>
    <p:sldId id="259" r:id="rId4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5800"/>
            <a:ext cx="10515600" cy="1371600"/>
          </a:xfrm>
        </p:spPr>
        <p:txBody>
          <a:bodyPr/>
          <a:lstStyle/>
          <a:p>
            <a:r>
              <a:rPr lang="cs-CZ" sz="3200" b="1">
                <a:solidFill>
                  <a:srgbClr val="1E293B"/>
                </a:solidFill>
              </a:rPr>
              <a:t>NextGen Cloud Architecture &amp; Enterprise AI Platform</a:t>
            </a:r>
          </a:p>
          <a:p>
            <a:r>
              <a:rPr lang="cs-CZ" sz="1600">
                <a:solidFill>
                  <a:srgbClr val="64748B"/>
                </a:solidFill>
              </a:rPr>
              <a:t>Revolutionizing scalable distributed systems and intelligent workflow automation</a:t>
            </a:r>
          </a:p>
        </p:txBody>
      </p:sp>
      <p:sp>
        <p:nvSpPr>
          <p:cNvPr id="3" name="Content 1"/>
          <p:cNvSpPr>
            <a:spLocks noGrp="1"/>
          </p:cNvSpPr>
          <p:nvPr>
            <p:ph idx="1"/>
          </p:nvPr>
        </p:nvSpPr>
        <p:spPr>
          <a:xfrm>
            <a:off x="838200" y="2286000"/>
            <a:ext cx="10515600" cy="3886200"/>
          </a:xfrm>
        </p:spPr>
        <p:txBody>
          <a:bodyPr/>
          <a:lstStyle/>
          <a:p>
            <a:r>
              <a:rPr lang="cs-CZ" sz="1400">
                <a:solidFill>
                  <a:srgbClr val="94A3B8"/>
                </a:solidFill>
              </a:rPr>
              <a:t>Presented by: Executive Innovation Board &amp; Engineering Leadership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685800"/>
            <a:ext cx="10515600" cy="1371600"/>
          </a:xfrm>
        </p:spPr>
        <p:txBody>
          <a:bodyPr/>
          <a:lstStyle/>
          <a:p>
            <a:r>
              <a:rPr lang="cs-CZ" sz="3200" b="1">
                <a:solidFill>
                  <a:srgbClr val="1E293B"/>
                </a:solidFill>
              </a:rPr>
              <a:t>Three Pillars of Our 2026 Growth Strategy</a:t>
            </a:r>
          </a:p>
          <a:p>
            <a:r>
              <a:rPr lang="cs-CZ" sz="1600">
                <a:solidFill>
                  <a:srgbClr val="64748B"/>
                </a:solidFill>
              </a:rPr>
              <a:t>Focusing on enterprise reliability, cost reduction, and global scale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838200" y="2286000"/>
            <a:ext cx="10515600" cy="3886200"/>
          </a:xfrm>
        </p:spPr>
        <p:txBody>
          <a:bodyPr/>
          <a:lstStyle/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1. Autonomous operations powered by state-of-the-art generative models</a:t>
            </a:r>
          </a:p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2. Multi-region low-latency infrastructure slashing operating expenses by 40%</a:t>
            </a:r>
          </a:p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3. Seamless localization and multi-language rollout across 15 European markets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838200" y="685800"/>
            <a:ext cx="10515600" cy="1371600"/>
          </a:xfrm>
        </p:spPr>
        <p:txBody>
          <a:bodyPr/>
          <a:lstStyle/>
          <a:p>
            <a:r>
              <a:rPr lang="cs-CZ" sz="3200" b="1">
                <a:solidFill>
                  <a:srgbClr val="1E293B"/>
                </a:solidFill>
              </a:rPr>
              <a:t>Market Opportunity and Projected Financial Metrics</a:t>
            </a:r>
          </a:p>
          <a:p>
            <a:r>
              <a:rPr lang="cs-CZ" sz="1600">
                <a:solidFill>
                  <a:srgbClr val="64748B"/>
                </a:solidFill>
              </a:rPr>
              <a:t>Consistent compounding growth with verified enterprise unit economics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838200" y="2286000"/>
            <a:ext cx="10515600" cy="3886200"/>
          </a:xfrm>
        </p:spPr>
        <p:txBody>
          <a:bodyPr/>
          <a:lstStyle/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Projected Annual Recurring Revenue (ARR) growth: +180% year-over-year</a:t>
            </a:r>
          </a:p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Enterprise customer retention rate exceeding 96.5% across all segments</a:t>
            </a:r>
          </a:p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Accelerated customer onboarding cycle from 45 days down to under 4 hours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838200" y="685800"/>
            <a:ext cx="10515600" cy="1371600"/>
          </a:xfrm>
        </p:spPr>
        <p:txBody>
          <a:bodyPr/>
          <a:lstStyle/>
          <a:p>
            <a:r>
              <a:rPr lang="cs-CZ" sz="3200" b="1">
                <a:solidFill>
                  <a:srgbClr val="1E293B"/>
                </a:solidFill>
              </a:rPr>
              <a:t>Key Milestones and Next Action Steps</a:t>
            </a:r>
          </a:p>
          <a:p>
            <a:r>
              <a:rPr lang="cs-CZ" sz="1600">
                <a:solidFill>
                  <a:srgbClr val="64748B"/>
                </a:solidFill>
              </a:rPr>
              <a:t>Roadmap execution timeline starting Q4 2026</a:t>
            </a:r>
          </a:p>
        </p:txBody>
      </p:sp>
      <p:sp>
        <p:nvSpPr>
          <p:cNvPr id="3" name="Content 4"/>
          <p:cNvSpPr>
            <a:spLocks noGrp="1"/>
          </p:cNvSpPr>
          <p:nvPr>
            <p:ph idx="1"/>
          </p:nvPr>
        </p:nvSpPr>
        <p:spPr>
          <a:xfrm>
            <a:off x="838200" y="2286000"/>
            <a:ext cx="10515600" cy="3886200"/>
          </a:xfrm>
        </p:spPr>
        <p:txBody>
          <a:bodyPr/>
          <a:lstStyle/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Finalize strategic enterprise contracts and engineering capacity allocation</a:t>
            </a:r>
          </a:p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Deploy secure sandbox environments for tier-1 alpha partners</a:t>
            </a:r>
          </a:p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Official project documentation &amp; API developer portal: https://nextgen-enterprise.example.com</a:t>
            </a:r>
          </a:p>
        </p:txBody>
      </p:sp>
    </p:spTree>
  </p:cSld>
</p:sld>
</file>
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Sz cx="12192000" cy="6858000" type="screen16x9"/>
  <p:sldIdLst>
    <p:sldId id="256" r:id="rId1"/>
    <p:sldId id="257" r:id="rId2"/>
    <p:sldId id="258" r:id="rId3"/>
    <p:sldId id="259" r:id="rId4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5800"/>
            <a:ext cx="10515600" cy="1371600"/>
          </a:xfrm>
        </p:spPr>
        <p:txBody>
          <a:bodyPr/>
          <a:lstStyle/>
          <a:p>
            <a:r>
              <a:rPr lang="cs-CZ" sz="3200" b="1">
                <a:solidFill>
                  <a:srgbClr val="1E293B"/>
                </a:solidFill>
              </a:rPr>
              <a:t>Strategie digitální transformace a umělé inteligence 2026</a:t>
            </a:r>
          </a:p>
          <a:p>
            <a:r>
              <a:rPr lang="cs-CZ" sz="1600">
                <a:solidFill>
                  <a:srgbClr val="64748B"/>
                </a:solidFill>
              </a:rPr>
              <a:t>Vize pro automatizaci procesů, expanzi na evropský trh a zvýšení efektivity týmů</a:t>
            </a:r>
          </a:p>
        </p:txBody>
      </p:sp>
      <p:sp>
        <p:nvSpPr>
          <p:cNvPr id="3" name="Content 1"/>
          <p:cNvSpPr>
            <a:spLocks noGrp="1"/>
          </p:cNvSpPr>
          <p:nvPr>
            <p:ph idx="1"/>
          </p:nvPr>
        </p:nvSpPr>
        <p:spPr>
          <a:xfrm>
            <a:off x="838200" y="2286000"/>
            <a:ext cx="10515600" cy="3886200"/>
          </a:xfrm>
        </p:spPr>
        <p:txBody>
          <a:bodyPr/>
          <a:lstStyle/>
          <a:p>
            <a:r>
              <a:rPr lang="cs-CZ" sz="1400">
                <a:solidFill>
                  <a:srgbClr val="94A3B8"/>
                </a:solidFill>
              </a:rPr>
              <a:t>Přednáší: Výkonná rada pro inovace a technologický rozvoj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685800"/>
            <a:ext cx="10515600" cy="1371600"/>
          </a:xfrm>
        </p:spPr>
        <p:txBody>
          <a:bodyPr/>
          <a:lstStyle/>
          <a:p>
            <a:r>
              <a:rPr lang="cs-CZ" sz="3200" b="1">
                <a:solidFill>
                  <a:srgbClr val="1E293B"/>
                </a:solidFill>
              </a:rPr>
              <a:t>Tři klíčové pilíře našeho technologického růstu</a:t>
            </a:r>
          </a:p>
          <a:p>
            <a:r>
              <a:rPr lang="cs-CZ" sz="1600">
                <a:solidFill>
                  <a:srgbClr val="64748B"/>
                </a:solidFill>
              </a:rPr>
              <a:t>Zaměření na udržitelné technologie a spokojenost koncových klientů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>
          <a:xfrm>
            <a:off x="838200" y="2286000"/>
            <a:ext cx="10515600" cy="3886200"/>
          </a:xfrm>
        </p:spPr>
        <p:txBody>
          <a:bodyPr/>
          <a:lstStyle/>
          <a:p>
            <a:pPr lvl="0">
              <a:buFont typeface="Arial"/>
              <a:buChar char="•"/>
            </a:pPr>
            <a:r>
              <a:rPr lang="cs-CZ" sz="1800">
                <a:solidFill>
                  <a:srgbClr val="334155"/>
                </a:solidFill>
              </a:rPr>
              <a:t>1. Automatizace zákaznické podpory s využitím moderních AI modelů</a:t>
            </a:r>
          </a:p>
          <a:p>
            <a:pPr lvl="0">
              <a:buFont typeface="Arial"/>
              <a:buChar char="•"/>
            </a:pPr>
            <a:r>
              <a:rPr lang="cs-CZ" sz="1800">
                <a:solidFill>
                  <a:srgbClr val="334155"/>
                </a:solidFill>
              </a:rPr>
              <a:t>2. Modernizace cloudové infrastruktury a snížení provozních nákladů o 35 %</a:t>
            </a:r>
          </a:p>
          <a:p>
            <a:pPr lvl="0">
              <a:buFont typeface="Arial"/>
              <a:buChar char="•"/>
            </a:pPr>
            <a:r>
              <a:rPr lang="cs-CZ" sz="1800">
                <a:solidFill>
                  <a:srgbClr val="334155"/>
                </a:solidFill>
              </a:rPr>
              <a:t>3. Expanze lokalizovaných služeb do 12 nových evropských zemí v průběhu roku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3"/>
          <p:cNvSpPr>
            <a:spLocks noGrp="1"/>
          </p:cNvSpPr>
          <p:nvPr>
            <p:ph type="title"/>
          </p:nvPr>
        </p:nvSpPr>
        <p:spPr>
          <a:xfrm>
            <a:off x="838200" y="685800"/>
            <a:ext cx="10515600" cy="1371600"/>
          </a:xfrm>
        </p:spPr>
        <p:txBody>
          <a:bodyPr/>
          <a:lstStyle/>
          <a:p>
            <a:r>
              <a:rPr lang="cs-CZ" sz="3200" b="1">
                <a:solidFill>
                  <a:srgbClr val="1E293B"/>
                </a:solidFill>
              </a:rPr>
              <a:t>Analýza tržního potenciálu a návratnost investic</a:t>
            </a:r>
          </a:p>
          <a:p>
            <a:r>
              <a:rPr lang="cs-CZ" sz="1600">
                <a:solidFill>
                  <a:srgbClr val="64748B"/>
                </a:solidFill>
              </a:rPr>
              <a:t>Očekávaný meziroční růst a optimalizace kapitálových výdajů</a:t>
            </a:r>
          </a:p>
        </p:txBody>
      </p:sp>
      <p:sp>
        <p:nvSpPr>
          <p:cNvPr id="3" name="Content 3"/>
          <p:cNvSpPr>
            <a:spLocks noGrp="1"/>
          </p:cNvSpPr>
          <p:nvPr>
            <p:ph idx="1"/>
          </p:nvPr>
        </p:nvSpPr>
        <p:spPr>
          <a:xfrm>
            <a:off x="838200" y="2286000"/>
            <a:ext cx="10515600" cy="3886200"/>
          </a:xfrm>
        </p:spPr>
        <p:txBody>
          <a:bodyPr/>
          <a:lstStyle/>
          <a:p>
            <a:pPr lvl="0">
              <a:buFont typeface="Arial"/>
              <a:buChar char="•"/>
            </a:pPr>
            <a:r>
              <a:rPr lang="cs-CZ" sz="1800">
                <a:solidFill>
                  <a:srgbClr val="334155"/>
                </a:solidFill>
              </a:rPr>
              <a:t>Očekávané navýšení hrubých tržeb: +145 % do konce třetího kvartálu</a:t>
            </a:r>
          </a:p>
          <a:p>
            <a:pPr lvl="0">
              <a:buFont typeface="Arial"/>
              <a:buChar char="•"/>
            </a:pPr>
            <a:r>
              <a:rPr lang="cs-CZ" sz="1800">
                <a:solidFill>
                  <a:srgbClr val="334155"/>
                </a:solidFill>
              </a:rPr>
              <a:t>Snížení chybovosti manuálního zpracování dat na méně než 0,2 %</a:t>
            </a:r>
          </a:p>
          <a:p>
            <a:pPr lvl="0">
              <a:buFont typeface="Arial"/>
              <a:buChar char="•"/>
            </a:pPr>
            <a:r>
              <a:rPr lang="cs-CZ" sz="1800">
                <a:solidFill>
                  <a:srgbClr val="334155"/>
                </a:solidFill>
              </a:rPr>
              <a:t>Zkrácení doby uvedení nových produktů na trh (Time-to-Market) z 6 měsíců na 3 týdny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4"/>
          <p:cNvSpPr>
            <a:spLocks noGrp="1"/>
          </p:cNvSpPr>
          <p:nvPr>
            <p:ph type="title"/>
          </p:nvPr>
        </p:nvSpPr>
        <p:spPr>
          <a:xfrm>
            <a:off x="838200" y="685800"/>
            <a:ext cx="10515600" cy="1371600"/>
          </a:xfrm>
        </p:spPr>
        <p:txBody>
          <a:bodyPr/>
          <a:lstStyle/>
          <a:p>
            <a:r>
              <a:rPr lang="cs-CZ" sz="3200" b="1">
                <a:solidFill>
                  <a:srgbClr val="1E293B"/>
                </a:solidFill>
              </a:rPr>
              <a:t>Závěr a následující kroky realizačního plánu</a:t>
            </a:r>
          </a:p>
          <a:p>
            <a:r>
              <a:rPr lang="cs-CZ" sz="1600">
                <a:solidFill>
                  <a:srgbClr val="64748B"/>
                </a:solidFill>
              </a:rPr>
              <a:t>Harmonogram spuštění pilotního projektu od 1. listopadu 2026</a:t>
            </a:r>
          </a:p>
        </p:txBody>
      </p:sp>
      <p:sp>
        <p:nvSpPr>
          <p:cNvPr id="3" name="Content 4"/>
          <p:cNvSpPr>
            <a:spLocks noGrp="1"/>
          </p:cNvSpPr>
          <p:nvPr>
            <p:ph idx="1"/>
          </p:nvPr>
        </p:nvSpPr>
        <p:spPr>
          <a:xfrm>
            <a:off x="838200" y="2286000"/>
            <a:ext cx="10515600" cy="3886200"/>
          </a:xfrm>
        </p:spPr>
        <p:txBody>
          <a:bodyPr/>
          <a:lstStyle/>
          <a:p>
            <a:pPr lvl="0">
              <a:buFont typeface="Arial"/>
              <a:buChar char="•"/>
            </a:pPr>
            <a:r>
              <a:rPr lang="cs-CZ" sz="1800">
                <a:solidFill>
                  <a:srgbClr val="334155"/>
                </a:solidFill>
              </a:rPr>
              <a:t>Schválení finálního rozpočtu a alokace klíčových inženýrských kapacit</a:t>
            </a:r>
          </a:p>
          <a:p>
            <a:pPr lvl="0">
              <a:buFont typeface="Arial"/>
              <a:buChar char="•"/>
            </a:pPr>
            <a:r>
              <a:rPr lang="cs-CZ" sz="1800">
                <a:solidFill>
                  <a:srgbClr val="334155"/>
                </a:solidFill>
              </a:rPr>
              <a:t>Zahájení školení zaměstnanců a spuštění interní testovací fáze</a:t>
            </a:r>
          </a:p>
          <a:p>
            <a:pPr lvl="0">
              <a:buFont typeface="Arial"/>
              <a:buChar char="•"/>
            </a:pPr>
            <a:r>
              <a:rPr lang="cs-CZ" sz="1800">
                <a:solidFill>
                  <a:srgbClr val="334155"/>
                </a:solidFill>
              </a:rPr>
              <a:t>Webová platforma a oficiální projektová dokumentace: https://innovation2026.example.com</a:t>
            </a:r>
          </a:p>
        </p:txBody>
      </p:sp>
    </p:spTree>
  </p:cSld>
</p:sld>
</file>
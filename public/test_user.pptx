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cs-CZ" sz="1000" b="0" i="0" u="none" strike="noStrike">
                <a:solidFill>
                  <a:srgbClr val="1A3A5C"/>
                </a:solidFill>
                <a:latin typeface="Arial"/>
              </a:rPr>
              <a:t>Instalovaný výkon OZE (GW, cca 2024)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Instalovaný výkon OZE (GW, 2024)</c:v>
                </c:pt>
              </c:strCache>
            </c:strRef>
          </c:tx>
          <c:spPr>
            <a:solidFill>
              <a:srgbClr val="2E7D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5C"/>
                    </a:solidFill>
                    <a:latin typeface="Arial"/>
                  </a:defRPr>
                </a:pPr>
                <a:endParaRPr lang="cs-C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Německo</c:v>
                </c:pt>
                <c:pt idx="1">
                  <c:v>V. Británie</c:v>
                </c:pt>
                <c:pt idx="2">
                  <c:v>Itálie</c:v>
                </c:pt>
                <c:pt idx="3">
                  <c:v>Polsko</c:v>
                </c:pt>
                <c:pt idx="4">
                  <c:v>Švédsko</c:v>
                </c:pt>
                <c:pt idx="5">
                  <c:v>Nizozemsko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77</c:v>
                </c:pt>
                <c:pt idx="2">
                  <c:v>76.599999999999994</c:v>
                </c:pt>
                <c:pt idx="3">
                  <c:v>30</c:v>
                </c:pt>
                <c:pt idx="4">
                  <c:v>47.8</c:v>
                </c:pt>
                <c:pt idx="5">
                  <c:v>35.700000000000003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4-4437-9B4B-C97652A1A8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cs-C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A8D4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cs-C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502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4389120" cy="4389120"/>
          </a:xfrm>
          <a:prstGeom prst="ellipse">
            <a:avLst/>
          </a:prstGeom>
          <a:solidFill>
            <a:srgbClr val="D6EEFF"/>
          </a:solidFill>
          <a:ln w="12700">
            <a:solidFill>
              <a:srgbClr val="D6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3291840" cy="3291840"/>
          </a:xfrm>
          <a:prstGeom prst="ellipse">
            <a:avLst/>
          </a:prstGeom>
          <a:solidFill>
            <a:srgbClr val="FFF0E0"/>
          </a:solidFill>
          <a:ln w="12700">
            <a:solidFill>
              <a:srgbClr val="FFF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ORGREZ, a.s. · Červen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Srovnání státních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strategií flexibility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2286000" cy="41148"/>
          </a:xfrm>
          <a:prstGeom prst="rect">
            <a:avLst/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63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Přístupy EU zemí k integraci OZE, řízení sítě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tržní flexibilitě v elektroenergetice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1234440" cy="749808"/>
          </a:xfrm>
          <a:prstGeom prst="roundRect">
            <a:avLst>
              <a:gd name="adj" fmla="val 10976"/>
            </a:avLst>
          </a:prstGeom>
          <a:solidFill>
            <a:srgbClr val="2E7DC4">
              <a:alpha val="12000"/>
            </a:srgbClr>
          </a:solidFill>
          <a:ln w="12700">
            <a:solidFill>
              <a:srgbClr val="2E7DC4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69080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Německo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9384" y="4069080"/>
            <a:ext cx="1234440" cy="749808"/>
          </a:xfrm>
          <a:prstGeom prst="roundRect">
            <a:avLst>
              <a:gd name="adj" fmla="val 10976"/>
            </a:avLst>
          </a:prstGeom>
          <a:solidFill>
            <a:srgbClr val="2E9B6A">
              <a:alpha val="12000"/>
            </a:srgbClr>
          </a:solidFill>
          <a:ln w="12700">
            <a:solidFill>
              <a:srgbClr val="2E9B6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4069080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Nizozemsko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55848" y="4069080"/>
            <a:ext cx="1234440" cy="749808"/>
          </a:xfrm>
          <a:prstGeom prst="roundRect">
            <a:avLst>
              <a:gd name="adj" fmla="val 10976"/>
            </a:avLst>
          </a:prstGeom>
          <a:solidFill>
            <a:srgbClr val="D94040">
              <a:alpha val="12000"/>
            </a:srgbClr>
          </a:solidFill>
          <a:ln w="12700">
            <a:solidFill>
              <a:srgbClr val="D9404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4069080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Itálie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82312" y="4069080"/>
            <a:ext cx="1234440" cy="749808"/>
          </a:xfrm>
          <a:prstGeom prst="roundRect">
            <a:avLst>
              <a:gd name="adj" fmla="val 10976"/>
            </a:avLst>
          </a:prstGeom>
          <a:solidFill>
            <a:srgbClr val="7B52C0">
              <a:alpha val="12000"/>
            </a:srgbClr>
          </a:solidFill>
          <a:ln w="12700">
            <a:solidFill>
              <a:srgbClr val="7B52C0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4069080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Švédsko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4069080"/>
            <a:ext cx="1234440" cy="749808"/>
          </a:xfrm>
          <a:prstGeom prst="roundRect">
            <a:avLst>
              <a:gd name="adj" fmla="val 10976"/>
            </a:avLst>
          </a:prstGeom>
          <a:solidFill>
            <a:srgbClr val="1A6FAE">
              <a:alpha val="12000"/>
            </a:srgbClr>
          </a:solidFill>
          <a:ln w="12700">
            <a:solidFill>
              <a:srgbClr val="1A6FAE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4069080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Velká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Británie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4069080"/>
            <a:ext cx="1234440" cy="749808"/>
          </a:xfrm>
          <a:prstGeom prst="roundRect">
            <a:avLst>
              <a:gd name="adj" fmla="val 10976"/>
            </a:avLst>
          </a:prstGeom>
          <a:solidFill>
            <a:srgbClr val="C07A20">
              <a:alpha val="12000"/>
            </a:srgbClr>
          </a:solidFill>
          <a:ln w="12700">
            <a:solidFill>
              <a:srgbClr val="C07A20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4069080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Polsko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846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BAA"/>
                </a:solidFill>
              </a:rPr>
              <a:t>Autor: Jan Šulc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je flexibilita klíčová?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D6EEFF"/>
          </a:solidFill>
          <a:ln w="12700">
            <a:solidFill>
              <a:srgbClr val="2E7DC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097280"/>
            <a:ext cx="502920" cy="502920"/>
          </a:xfrm>
          <a:prstGeom prst="ellipse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Transformace energetiky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6002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Tradiční centralizované zdroje jsou nahrazovány decentralizovanými OZE s proměnlivou výrobou závislou na počasí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FF0E0"/>
          </a:solidFill>
          <a:ln w="12700">
            <a:solidFill>
              <a:srgbClr val="F07820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097280"/>
            <a:ext cx="502920" cy="502920"/>
          </a:xfrm>
          <a:prstGeom prst="ellipse">
            <a:avLst/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50408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Nestabilita OZE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6002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Výrobu z větru a slunce nelze přesně plánovat — soustava potřebuje rychlou kompenzaci odchylek výroby i spotřeby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D6EEFF"/>
          </a:solidFill>
          <a:ln w="12700">
            <a:solidFill>
              <a:srgbClr val="2E7DC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971800"/>
            <a:ext cx="502920" cy="502920"/>
          </a:xfrm>
          <a:prstGeom prst="ellipse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Nové nároky na sítě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Rozvoj akumulace, agregace flexibility, řízení spotřeby a tvorba vhodných cenových a tarifních signálů pro trh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FF0E0"/>
          </a:solidFill>
          <a:ln w="12700">
            <a:solidFill>
              <a:srgbClr val="F07820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2971800"/>
            <a:ext cx="502920" cy="502920"/>
          </a:xfrm>
          <a:prstGeom prst="ellipse">
            <a:avLst/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0408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Geografický nesoulad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Výroba OZE vzniká daleko od spotřeby (sever/jih) — přenosová soustava má fyzická omezení kapacity vedení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292608"/>
          </a:xfrm>
          <a:prstGeom prst="roundRect">
            <a:avLst>
              <a:gd name="adj" fmla="val 15625"/>
            </a:avLst>
          </a:prstGeom>
          <a:solidFill>
            <a:srgbClr val="FFF0E0"/>
          </a:solidFill>
          <a:ln w="12700">
            <a:solidFill>
              <a:srgbClr val="F07820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07820"/>
                </a:solidFill>
              </a:rPr>
              <a:t>Různé státy přistupují k flexibilitě odlišně — záleží na struktuře sítě, trhu a podílu OZE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Modely trhu s elektřinou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Cenové oblasti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F07820"/>
          </a:solidFill>
          <a:ln w="12700">
            <a:solidFill>
              <a:srgbClr val="F07820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Jednotná oblast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36576" cy="4023360"/>
          </a:xfrm>
          <a:prstGeom prst="rect">
            <a:avLst/>
          </a:prstGeom>
          <a:solidFill>
            <a:srgbClr val="A8D4F5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08760"/>
            <a:ext cx="3749040" cy="1554480"/>
          </a:xfrm>
          <a:prstGeom prst="roundRect">
            <a:avLst>
              <a:gd name="adj" fmla="val 5294"/>
            </a:avLst>
          </a:prstGeom>
          <a:solidFill>
            <a:srgbClr val="D6EEFF"/>
          </a:solidFill>
          <a:ln w="12700">
            <a:solidFill>
              <a:srgbClr val="2E7DC4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🇸🇪 Švédsko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11096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4 cenové oblasti (SE1–SE4)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Sever: přebytek VTE+voda → Jih: spotřeba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Cenový signál reflektuje omezení přenosu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Nord Pool + lokální trhy flexibility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27832"/>
            <a:ext cx="3749040" cy="1554480"/>
          </a:xfrm>
          <a:prstGeom prst="roundRect">
            <a:avLst>
              <a:gd name="adj" fmla="val 5294"/>
            </a:avLst>
          </a:prstGeom>
          <a:solidFill>
            <a:srgbClr val="D6EEFF"/>
          </a:solidFill>
          <a:ln w="12700">
            <a:solidFill>
              <a:srgbClr val="2E7DC4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319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🇮🇹 Itálie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7 zón (North → Sardinia)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Jih: FVE, VTE → Sever: průmysl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Zonální ceny = přímá motivace pro flexibilitu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Terna + GME + TIDE/UVAM rámec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15087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🇩🇪 Německo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81965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Jednotná oblast; cena bez lokálního signálu → redispečink TSO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237744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🇳🇱 Nizozemsko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8833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Aktivní Congestion Management — GOPACS, non-firm připojení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324612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🇬🇧 Velká Británie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55701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Jednotný trh; síťová omezení → balancing trh + DSO flexibilita (DFS)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411480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🇵🇱 Polsko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425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Centralizované řízení PSE; kapacitní trh + DSR programy</a:t>
            </a:r>
            <a:endParaRPr lang="en-US" sz="950" dirty="0"/>
          </a:p>
        </p:txBody>
      </p:sp>
      <p:pic>
        <p:nvPicPr>
          <p:cNvPr id="30" name="Grafický objekt 29" descr="Prezentace s výsečovým grafem se souvislou výplní">
            <a:extLst>
              <a:ext uri="{FF2B5EF4-FFF2-40B4-BE49-F238E27FC236}">
                <a16:creationId xmlns:a16="http://schemas.microsoft.com/office/drawing/2014/main" id="{84234626-ADCA-927D-2984-F8B9D673A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501" y="959537"/>
            <a:ext cx="348637" cy="348637"/>
          </a:xfrm>
          <a:prstGeom prst="rect">
            <a:avLst/>
          </a:prstGeom>
        </p:spPr>
      </p:pic>
      <p:pic>
        <p:nvPicPr>
          <p:cNvPr id="32" name="Grafický objekt 31" descr="Převod se souvislou výplní">
            <a:extLst>
              <a:ext uri="{FF2B5EF4-FFF2-40B4-BE49-F238E27FC236}">
                <a16:creationId xmlns:a16="http://schemas.microsoft.com/office/drawing/2014/main" id="{8086D744-01FD-9FB1-743B-DCA62EF559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5273" y="992842"/>
            <a:ext cx="296462" cy="2964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Základní principy modelů flexibility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D6EEFF"/>
          </a:solidFill>
          <a:ln w="12700">
            <a:solidFill>
              <a:srgbClr val="2E7DC4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2E7DC4">
              <a:alpha val="85000"/>
            </a:srgbClr>
          </a:solidFill>
          <a:ln w="12700">
            <a:solidFill>
              <a:srgbClr val="2E7DC4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🇩🇪 Německo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C4"/>
                </a:solidFill>
              </a:rPr>
              <a:t>Jedna oblast + redispečink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</a:rPr>
              <a:t>Výrobce → trh → fyzický problém → TSO zasáhne → redispečink stabilizuje soustavu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64992" y="9144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0E0"/>
          </a:solidFill>
          <a:ln w="12700">
            <a:solidFill>
              <a:srgbClr val="F0782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914400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F07820">
              <a:alpha val="85000"/>
            </a:srgbClr>
          </a:solidFill>
          <a:ln w="12700">
            <a:solidFill>
              <a:srgbClr val="F0782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🇳🇱 Nizozemsko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6432" y="1389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820"/>
                </a:solidFill>
              </a:rPr>
              <a:t>Jedna oblast + Congestion Mgmt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56432" y="1719072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</a:rPr>
              <a:t>Přetížení → DSO identifikuje → flexibilní subjekty nabídnou změnu → bez nové infrastruktury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2784" y="9144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D6EEFF"/>
          </a:solidFill>
          <a:ln w="12700">
            <a:solidFill>
              <a:srgbClr val="2E7DC4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914400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2E7DC4">
              <a:alpha val="85000"/>
            </a:srgbClr>
          </a:solidFill>
          <a:ln w="12700">
            <a:solidFill>
              <a:srgbClr val="2E7DC4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🇮🇹 Itálie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1389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C4"/>
                </a:solidFill>
              </a:rPr>
              <a:t>Zonální trh + zonální ceny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1719072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</a:rPr>
              <a:t>Obchodování v zónách → omezená kapacita → rozdílné ceny → trh sám motivuje flexibilitu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44368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0E0"/>
          </a:solidFill>
          <a:ln w="12700">
            <a:solidFill>
              <a:srgbClr val="F0782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44368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F07820">
              <a:alpha val="85000"/>
            </a:srgbClr>
          </a:solidFill>
          <a:ln w="12700">
            <a:solidFill>
              <a:srgbClr val="F0782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62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🇸🇪 Švédsko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4198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820"/>
                </a:solidFill>
              </a:rPr>
              <a:t>Cenové oblasti + tržní řešení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</a:rPr>
              <a:t>Sever (přebytek) → přenos na jih → omezená kapacita → rozdílné ceny → investice do flexibility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2944368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D6EEFF"/>
          </a:solidFill>
          <a:ln w="12700">
            <a:solidFill>
              <a:srgbClr val="2E7DC4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4992" y="2944368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2E7DC4">
              <a:alpha val="85000"/>
            </a:srgbClr>
          </a:solidFill>
          <a:ln w="12700">
            <a:solidFill>
              <a:srgbClr val="2E7DC4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962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🇬🇧 Velká Británie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56432" y="34198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C4"/>
                </a:solidFill>
              </a:rPr>
              <a:t>Jednotný trh + rozvoj flexibility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56432" y="37490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</a:rPr>
              <a:t>Trh obchoduje → NESO/DSO nakupuje flexibilitu → zákazníci/agregátoři poskytují reakci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72784" y="2944368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0E0"/>
          </a:solidFill>
          <a:ln w="12700">
            <a:solidFill>
              <a:srgbClr val="F0782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2944368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F07820">
              <a:alpha val="85000"/>
            </a:srgbClr>
          </a:solidFill>
          <a:ln w="12700">
            <a:solidFill>
              <a:srgbClr val="F07820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2962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🇵🇱 Polsko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64224" y="34198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820"/>
                </a:solidFill>
              </a:rPr>
              <a:t>Kapacitní trh + rozvoj flexibility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37490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</a:rPr>
              <a:t>PSE → aukce kapacit → zdroje dostávají platbu → bezpečnost soustavy → flexibilita jako doplněk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Připojení do elektrizační soustavy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8BAA"/>
                </a:solidFill>
              </a:rPr>
              <a:t>← Tradiční infrastrukturní přístup                                                                                    Flexibilně orientovaný přístup →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03120" y="1499616"/>
            <a:ext cx="6492240" cy="310896"/>
          </a:xfrm>
          <a:prstGeom prst="roundRect">
            <a:avLst>
              <a:gd name="adj" fmla="val 1470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499616"/>
            <a:ext cx="6167628" cy="310896"/>
          </a:xfrm>
          <a:prstGeom prst="roundRect">
            <a:avLst>
              <a:gd name="adj" fmla="val 14706"/>
            </a:avLst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🇳🇱 Nizozemsko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35040" y="13716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Non-firm připojení, GOPACS,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flexibilita = podmínka připojení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03120" y="2075688"/>
            <a:ext cx="6492240" cy="310896"/>
          </a:xfrm>
          <a:prstGeom prst="roundRect">
            <a:avLst>
              <a:gd name="adj" fmla="val 1470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075688"/>
            <a:ext cx="5193792" cy="310896"/>
          </a:xfrm>
          <a:prstGeom prst="roundRect">
            <a:avLst>
              <a:gd name="adj" fmla="val 1470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76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🇸🇪 Švédsko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9476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Sthlmflex, lokální flexibilita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místo výstavby sítí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2651760"/>
            <a:ext cx="6492240" cy="310896"/>
          </a:xfrm>
          <a:prstGeom prst="roundRect">
            <a:avLst>
              <a:gd name="adj" fmla="val 1470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651760"/>
            <a:ext cx="4869180" cy="310896"/>
          </a:xfrm>
          <a:prstGeom prst="roundRect">
            <a:avLst>
              <a:gd name="adj" fmla="val 14706"/>
            </a:avLst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🇬🇧 Velká Británie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252374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Reformy front, DNO/DSO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nakupuje flexibilitu pro sítě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03120" y="3227832"/>
            <a:ext cx="6492240" cy="310896"/>
          </a:xfrm>
          <a:prstGeom prst="roundRect">
            <a:avLst>
              <a:gd name="adj" fmla="val 1470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3227832"/>
            <a:ext cx="3570732" cy="310896"/>
          </a:xfrm>
          <a:prstGeom prst="roundRect">
            <a:avLst>
              <a:gd name="adj" fmla="val 1470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981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🇮🇹 Itálie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30998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Terna koordinuje, baterie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pomáhají při přetíženích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03120" y="3803904"/>
            <a:ext cx="6492240" cy="310896"/>
          </a:xfrm>
          <a:prstGeom prst="roundRect">
            <a:avLst>
              <a:gd name="adj" fmla="val 1470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3803904"/>
            <a:ext cx="2596896" cy="310896"/>
          </a:xfrm>
          <a:prstGeom prst="roundRect">
            <a:avLst>
              <a:gd name="adj" fmla="val 14706"/>
            </a:avLst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7588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🇩🇪 Německo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36758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§14a EnWG, garantované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připojení + aktivní řízení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0" y="4379976"/>
            <a:ext cx="6492240" cy="310896"/>
          </a:xfrm>
          <a:prstGeom prst="roundRect">
            <a:avLst>
              <a:gd name="adj" fmla="val 1470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4379976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519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🇵🇱 Polsko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4251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Klasické síťové posílení,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B8BAA"/>
                </a:solidFill>
              </a:rPr>
              <a:t>flexibilita teprve vzniká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4">
            <a:extLst>
              <a:ext uri="{FF2B5EF4-FFF2-40B4-BE49-F238E27FC236}">
                <a16:creationId xmlns:a16="http://schemas.microsoft.com/office/drawing/2014/main" id="{9C89D47C-0C73-8CC4-DB57-F11903461EDB}"/>
              </a:ext>
            </a:extLst>
          </p:cNvPr>
          <p:cNvSpPr/>
          <p:nvPr/>
        </p:nvSpPr>
        <p:spPr>
          <a:xfrm>
            <a:off x="3090672" y="3183785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6B8BAA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  <p:txBody>
          <a:bodyPr/>
          <a:lstStyle/>
          <a:p>
            <a:endParaRPr lang="cs-CZ" sz="950" dirty="0">
              <a:solidFill>
                <a:srgbClr val="1A3A5C"/>
              </a:solidFill>
            </a:endParaRPr>
          </a:p>
          <a:p>
            <a:r>
              <a:rPr lang="en-US" sz="1000" b="1" dirty="0">
                <a:solidFill>
                  <a:srgbClr val="1A3A5C"/>
                </a:solidFill>
              </a:rPr>
              <a:t>🇬🇧 V. </a:t>
            </a:r>
            <a:r>
              <a:rPr lang="en-US" sz="1000" b="1" dirty="0" err="1">
                <a:solidFill>
                  <a:srgbClr val="1A3A5C"/>
                </a:solidFill>
              </a:rPr>
              <a:t>Británie</a:t>
            </a:r>
            <a:endParaRPr lang="en-US" sz="1000" dirty="0"/>
          </a:p>
          <a:p>
            <a:endParaRPr lang="cs-CZ" sz="950" dirty="0">
              <a:solidFill>
                <a:srgbClr val="1A3A5C"/>
              </a:solidFill>
            </a:endParaRPr>
          </a:p>
          <a:p>
            <a:endParaRPr lang="cs-CZ" sz="950" dirty="0">
              <a:solidFill>
                <a:srgbClr val="1A3A5C"/>
              </a:solidFill>
            </a:endParaRPr>
          </a:p>
          <a:p>
            <a:r>
              <a:rPr lang="en-US" sz="950" dirty="0">
                <a:solidFill>
                  <a:srgbClr val="1A3A5C"/>
                </a:solidFill>
              </a:rPr>
              <a:t>Time-of-Use, </a:t>
            </a:r>
            <a:r>
              <a:rPr lang="en-US" sz="950" dirty="0" err="1">
                <a:solidFill>
                  <a:srgbClr val="1A3A5C"/>
                </a:solidFill>
              </a:rPr>
              <a:t>dynamické</a:t>
            </a:r>
            <a:r>
              <a:rPr lang="en-US" sz="950" dirty="0">
                <a:solidFill>
                  <a:srgbClr val="1A3A5C"/>
                </a:solidFill>
              </a:rPr>
              <a:t> </a:t>
            </a:r>
            <a:r>
              <a:rPr lang="en-US" sz="950" dirty="0" err="1">
                <a:solidFill>
                  <a:srgbClr val="1A3A5C"/>
                </a:solidFill>
              </a:rPr>
              <a:t>tarify</a:t>
            </a:r>
            <a:r>
              <a:rPr lang="en-US" sz="950" dirty="0">
                <a:solidFill>
                  <a:srgbClr val="1A3A5C"/>
                </a:solidFill>
              </a:rPr>
              <a:t> </a:t>
            </a:r>
            <a:r>
              <a:rPr lang="en-US" sz="950" dirty="0" err="1">
                <a:solidFill>
                  <a:srgbClr val="1A3A5C"/>
                </a:solidFill>
              </a:rPr>
              <a:t>přes</a:t>
            </a:r>
            <a:r>
              <a:rPr lang="en-US" sz="950" dirty="0">
                <a:solidFill>
                  <a:srgbClr val="1A3A5C"/>
                </a:solidFill>
              </a:rPr>
              <a:t> </a:t>
            </a:r>
            <a:r>
              <a:rPr lang="en-US" sz="950" dirty="0" err="1">
                <a:solidFill>
                  <a:srgbClr val="1A3A5C"/>
                </a:solidFill>
              </a:rPr>
              <a:t>chytr</a:t>
            </a:r>
            <a:r>
              <a:rPr lang="cs-CZ" sz="950">
                <a:solidFill>
                  <a:srgbClr val="1A3A5C"/>
                </a:solidFill>
              </a:rPr>
              <a:t>wasdasd</a:t>
            </a:r>
            <a:r>
              <a:rPr lang="en-US" sz="950">
                <a:solidFill>
                  <a:srgbClr val="1A3A5C"/>
                </a:solidFill>
              </a:rPr>
              <a:t>é </a:t>
            </a:r>
            <a:r>
              <a:rPr lang="en-US" sz="950" dirty="0" err="1">
                <a:solidFill>
                  <a:srgbClr val="1A3A5C"/>
                </a:solidFill>
              </a:rPr>
              <a:t>měřiče</a:t>
            </a:r>
            <a:r>
              <a:rPr lang="en-US" sz="950" dirty="0">
                <a:solidFill>
                  <a:srgbClr val="1A3A5C"/>
                </a:solidFill>
              </a:rPr>
              <a:t>; </a:t>
            </a:r>
            <a:r>
              <a:rPr lang="en-US" sz="950" dirty="0" err="1">
                <a:solidFill>
                  <a:srgbClr val="1A3A5C"/>
                </a:solidFill>
              </a:rPr>
              <a:t>silná</a:t>
            </a:r>
            <a:r>
              <a:rPr lang="en-US" sz="950" dirty="0">
                <a:solidFill>
                  <a:srgbClr val="1A3A5C"/>
                </a:solidFill>
              </a:rPr>
              <a:t> </a:t>
            </a:r>
            <a:r>
              <a:rPr lang="en-US" sz="950" dirty="0" err="1">
                <a:solidFill>
                  <a:srgbClr val="1A3A5C"/>
                </a:solidFill>
              </a:rPr>
              <a:t>motivace</a:t>
            </a:r>
            <a:r>
              <a:rPr lang="en-US" sz="950" dirty="0">
                <a:solidFill>
                  <a:srgbClr val="1A3A5C"/>
                </a:solidFill>
              </a:rPr>
              <a:t> </a:t>
            </a:r>
            <a:r>
              <a:rPr lang="en-US" sz="950" dirty="0" err="1">
                <a:solidFill>
                  <a:srgbClr val="1A3A5C"/>
                </a:solidFill>
              </a:rPr>
              <a:t>přesunu</a:t>
            </a:r>
            <a:r>
              <a:rPr lang="en-US" sz="950" dirty="0">
                <a:solidFill>
                  <a:srgbClr val="1A3A5C"/>
                </a:solidFill>
              </a:rPr>
              <a:t> </a:t>
            </a:r>
            <a:r>
              <a:rPr lang="en-US" sz="950" dirty="0" err="1">
                <a:solidFill>
                  <a:srgbClr val="1A3A5C"/>
                </a:solidFill>
              </a:rPr>
              <a:t>spotřeby</a:t>
            </a:r>
            <a:endParaRPr lang="en-US" sz="950" dirty="0">
              <a:solidFill>
                <a:srgbClr val="1A3A5C"/>
              </a:solidFill>
            </a:endParaRPr>
          </a:p>
          <a:p>
            <a:endParaRPr lang="cs-CZ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Tvorba tarifů a flexibilita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2E7DC4">
              <a:alpha val="85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Tradiční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4358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Tarify primárně financují síť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D6EEFF"/>
          </a:solidFill>
          <a:ln w="12700">
            <a:solidFill>
              <a:srgbClr val="2E7DC4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🇩🇪 Německo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Pevná + variabilní složka; §14a EnWG přidává říditelné spotřebiče; postupně k TOU tarifům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D6EEFF"/>
          </a:solidFill>
          <a:ln w="12700">
            <a:solidFill>
              <a:srgbClr val="2E7DC4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644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🇵🇱 Polsko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75304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DSR + kapacitní trh jako hlavní nástroje; klasické financování sítě dominuje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0672" y="896112"/>
            <a:ext cx="1920240" cy="594360"/>
          </a:xfrm>
          <a:prstGeom prst="roundRect">
            <a:avLst>
              <a:gd name="adj" fmla="val 13846"/>
            </a:avLst>
          </a:prstGeom>
          <a:solidFill>
            <a:srgbClr val="6B8BAA">
              <a:alpha val="85000"/>
            </a:srgbClr>
          </a:solidFill>
          <a:ln w="12700">
            <a:solidFill>
              <a:srgbClr val="6B8BA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896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Přechodový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124358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Tarifní signál + cenové oblasti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90672" y="16916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6B8BAA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82112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🇮🇹 Itálie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82112" y="2093976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ARERA reguluje; hlavní flexibilní signál přichází ze zonálních cen a dispečerského trhu Terna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896112"/>
            <a:ext cx="3657600" cy="594360"/>
          </a:xfrm>
          <a:prstGeom prst="roundRect">
            <a:avLst>
              <a:gd name="adj" fmla="val 13846"/>
            </a:avLst>
          </a:prstGeom>
          <a:solidFill>
            <a:srgbClr val="F07820">
              <a:alpha val="85000"/>
            </a:srgbClr>
          </a:solidFill>
          <a:ln w="12700">
            <a:solidFill>
              <a:srgbClr val="F0782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896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Flexibilně orientovaný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12435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Tarify jako nástroj flexibility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20640" y="16916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🇳🇱 Nizozemsko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093976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Kapacitní prvky; tarify → congestion mgmt; motivace k bateriím a EV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3172968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3264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🇸🇪 Švédsko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575304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Výkonové tarify; spotové ceny + cenové oblasti + flexibilní tarify propojeny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0" y="4745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505663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321040" cy="292608"/>
          </a:xfrm>
          <a:prstGeom prst="roundRect">
            <a:avLst>
              <a:gd name="adj" fmla="val 15625"/>
            </a:avLst>
          </a:prstGeom>
          <a:solidFill>
            <a:srgbClr val="FFF0E0"/>
          </a:solidFill>
          <a:ln w="12700">
            <a:solidFill>
              <a:srgbClr val="F07820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07820"/>
                </a:solidFill>
              </a:rPr>
              <a:t>Tarify se postupně mění z nástrojů financování sítí na motivátory flexibility — klíčové pro integraci EV, baterií a tepelných čerpadel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Tržní flexibilita, agregace, průmysl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FFF0E0"/>
          </a:solidFill>
          <a:ln w="12700">
            <a:solidFill>
              <a:srgbClr val="F0782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0" cy="1234440"/>
          </a:xfrm>
          <a:prstGeom prst="roundRect">
            <a:avLst>
              <a:gd name="adj" fmla="val 15000"/>
            </a:avLst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5331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/>
              <a:t>★★★★★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🇬🇧 Velká Británie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31673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DFS – miliony zákazníků. Agregátoři (Octopus, Flexitricity, GridBeyond). Flexibilita = samostatný obchodovatelný produkt.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D6EEFF"/>
          </a:solidFill>
          <a:ln w="12700">
            <a:solidFill>
              <a:srgbClr val="2E7DC4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548640" cy="1234440"/>
          </a:xfrm>
          <a:prstGeom prst="roundRect">
            <a:avLst>
              <a:gd name="adj" fmla="val 15000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35331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/>
              <a:t>★★★★☆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22392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🇳🇱 Nizozemsko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22392" y="131673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GOPACS, 110+ CSP poskytovatelů. Flexibilita = každodenní řízení distribuční sítě. Nejen podpůrná služba.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FFF0E0"/>
          </a:solidFill>
          <a:ln w="12700">
            <a:solidFill>
              <a:srgbClr val="F0782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67712"/>
            <a:ext cx="548640" cy="1234440"/>
          </a:xfrm>
          <a:prstGeom prst="roundRect">
            <a:avLst>
              <a:gd name="adj" fmla="val 15000"/>
            </a:avLst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06624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/>
              <a:t>★★★★☆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78992" y="2359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🇸🇪 Švédsko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6700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Sthlmflex – lokální trh flexibility. Koordinace TSO+DSO. Cenové oblasti SE1–SE4 motivují investice.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267712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D6EEFF"/>
          </a:solidFill>
          <a:ln w="12700">
            <a:solidFill>
              <a:srgbClr val="2E7DC4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67712"/>
            <a:ext cx="548640" cy="1234440"/>
          </a:xfrm>
          <a:prstGeom prst="roundRect">
            <a:avLst>
              <a:gd name="adj" fmla="val 15000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706624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/>
              <a:t>★★★☆☆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22392" y="2359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🇩🇪 Německo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22392" y="26700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Virtuální elektrárny (Next Kraftwerke, E2M). Regelleistung.net. Redispečink dominuje; DSO roste.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621024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FFF0E0"/>
          </a:solidFill>
          <a:ln w="12700">
            <a:solidFill>
              <a:srgbClr val="F07820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21024"/>
            <a:ext cx="548640" cy="1234440"/>
          </a:xfrm>
          <a:prstGeom prst="roundRect">
            <a:avLst>
              <a:gd name="adj" fmla="val 15000"/>
            </a:avLst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59936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/>
              <a:t>★★★☆☆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78992" y="37124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🇮🇹 Itálie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023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UVAM/TIDE rámec. Enel X, Edison, A2A. Terna koordinuje. Centralizovaná systémová flexibilita.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621024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D6EEFF"/>
          </a:solidFill>
          <a:ln w="12700">
            <a:solidFill>
              <a:srgbClr val="2E7DC4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21024"/>
            <a:ext cx="548640" cy="1234440"/>
          </a:xfrm>
          <a:prstGeom prst="roundRect">
            <a:avLst>
              <a:gd name="adj" fmla="val 15000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4059936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/>
              <a:t>★★☆☆☆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22392" y="37124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🇵🇱 Polsko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22392" y="4023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DSR + kapacitní trh (PSE). Hutě, chemie. Agregace teprve roste. Lerta, Enelion, Fortum.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Analýza využití flexibility — čísla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0E0"/>
          </a:solidFill>
          <a:ln w="12700">
            <a:solidFill>
              <a:srgbClr val="F07820">
                <a:alpha val="60000"/>
              </a:srgbClr>
            </a:solidFill>
            <a:prstDash val="solid"/>
          </a:ln>
          <a:effectLst>
            <a:outerShdw blurRad="101600" dist="25400" dir="2700000" algn="bl" rotWithShape="0">
              <a:srgbClr val="F078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F07820">
              <a:alpha val="85000"/>
            </a:srgbClr>
          </a:solidFill>
          <a:ln w="12700">
            <a:solidFill>
              <a:srgbClr val="F0782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🇬🇧 Velká Británie – DFS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7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12 000+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MWh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BAA"/>
                </a:solidFill>
              </a:rPr>
              <a:t>celkem dodáno od spuštění DFS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7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2,46 mil.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19293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zákazníků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2311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BAA"/>
                </a:solidFill>
              </a:rPr>
              <a:t>zapojeno celkem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4414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7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3 918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24414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MWh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743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BAA"/>
                </a:solidFill>
              </a:rPr>
              <a:t>realizováno 2024/25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29535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7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29535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TWh/rok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2552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BAA"/>
                </a:solidFill>
              </a:rPr>
              <a:t>odhadovaný potenciál po 2030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914400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D6EEFF"/>
          </a:solidFill>
          <a:ln w="12700">
            <a:solidFill>
              <a:srgbClr val="2E7DC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🇮🇹 Itálie – UVAM kapacita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280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C4"/>
                </a:solidFill>
              </a:rPr>
              <a:t>1 GW → 5,8 GW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280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růst 2021–2023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554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C4"/>
                </a:solidFill>
              </a:rPr>
              <a:t>71,5 GWh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554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plán akumulace MACSE do 2030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011680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D6EEFF"/>
          </a:solidFill>
          <a:ln w="12700">
            <a:solidFill>
              <a:srgbClr val="2E7DC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🇸🇪 Švédsko – Sthlmflex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377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C4"/>
                </a:solidFill>
              </a:rPr>
              <a:t>2 276 MWh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377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aktivováno zimní sezóna 2020/21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651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C4"/>
                </a:solidFill>
              </a:rPr>
              <a:t>15 MW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Stockholm Exergi 2021/22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3108960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D6EEFF"/>
          </a:solidFill>
          <a:ln w="12700">
            <a:solidFill>
              <a:srgbClr val="2E7DC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🇳🇱 Nizozemsko – GOPACS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C4"/>
                </a:solidFill>
              </a:rPr>
              <a:t>110+ CSP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certifikovaných poskytovatelů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C4"/>
                </a:solidFill>
              </a:rPr>
              <a:t>jednotky GW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disponibilní výkon flexibility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709160"/>
            <a:ext cx="8229600" cy="292608"/>
          </a:xfrm>
          <a:prstGeom prst="roundRect">
            <a:avLst>
              <a:gd name="adj" fmla="val 15625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A5C"/>
                </a:solidFill>
              </a:rPr>
              <a:t>🇩🇪 Německo: potenciál 15–40 TWh/rok (Fraunhofer ISE, Agora)  |  🇵🇱 Polsko: 2–10 TWh/rok (roste s offshore větrem)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Flexibilita ve vztahu k rozvoji OZE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68680"/>
          <a:ext cx="47548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86868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D6EEFF"/>
          </a:solidFill>
          <a:ln w="12700">
            <a:solidFill>
              <a:srgbClr val="2E7DC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Potenciál flexibility (TWh/rok)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🇩🇪 Německo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7804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C4"/>
                </a:solidFill>
              </a:rPr>
              <a:t>15–40 TWh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719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🇳🇱 Nizozemsko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7804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7820"/>
                </a:solidFill>
              </a:rPr>
              <a:t>7–28 TWh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0" y="20665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🇬🇧 V. Británie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78040" y="20665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C4"/>
                </a:solidFill>
              </a:rPr>
              <a:t>10–25 TWh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0" y="24140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🇮🇹 Itálie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78040" y="24140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7820"/>
                </a:solidFill>
              </a:rPr>
              <a:t>6–20 TWh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761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🇸🇪 Švédsko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78040" y="2761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C4"/>
                </a:solidFill>
              </a:rPr>
              <a:t>4–15 TWh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0" y="3108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🇵🇱 Polsko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7804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7820"/>
                </a:solidFill>
              </a:rPr>
              <a:t>2–10 TWh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94960" y="3749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8BAA"/>
                </a:solidFill>
              </a:rPr>
              <a:t>Zdroje: Fraunhofer ISE, Agora, CBS, Rabobank, GOV.UK, REMIND-PyPSA-Eur, Instrat (2024–2026)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57200" y="3794760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82219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🇩🇪 Největší absolutní potenciál: průmysl, baterie, vodík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🇬🇧 Nejpokročilejší zapojení zákazníků | 🇸🇪 Přirozená flexibilita vodních elektráren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FFF0E0"/>
          </a:solidFill>
          <a:ln w="12700">
            <a:solidFill>
              <a:srgbClr val="F07820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07820"/>
                </a:solidFill>
              </a:rPr>
              <a:t>⚠ Samotná velikost potenciálu nevypovídá o vyspělosti systému — záleží na tržních mechanismech a schopnosti aktivace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Srovnávací přehled strategií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Stát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804672"/>
            <a:ext cx="960120" cy="347472"/>
          </a:xfrm>
          <a:prstGeom prst="roundRect">
            <a:avLst>
              <a:gd name="adj" fmla="val 1052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8046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804672"/>
            <a:ext cx="1691640" cy="347472"/>
          </a:xfrm>
          <a:prstGeom prst="roundRect">
            <a:avLst>
              <a:gd name="adj" fmla="val 1052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8046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Flexib. model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804672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8046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DSO role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804672"/>
            <a:ext cx="1051560" cy="347472"/>
          </a:xfrm>
          <a:prstGeom prst="roundRect">
            <a:avLst>
              <a:gd name="adj" fmla="val 1052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8046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Tarify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55080" y="80467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804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Agregátoři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804672"/>
            <a:ext cx="1051560" cy="347472"/>
          </a:xfrm>
          <a:prstGeom prst="roundRect">
            <a:avLst>
              <a:gd name="adj" fmla="val 10526"/>
            </a:avLst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8046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Vyspělost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216152"/>
            <a:ext cx="8503920" cy="557784"/>
          </a:xfrm>
          <a:prstGeom prst="roundRect">
            <a:avLst>
              <a:gd name="adj" fmla="val 983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216152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🇩🇪 Německo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1216152"/>
            <a:ext cx="9601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Jednotná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1216152"/>
            <a:ext cx="16916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Redispečink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1216152"/>
            <a:ext cx="914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Roste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1216152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Tradiční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216152"/>
            <a:ext cx="1005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Střední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1216152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7820"/>
                </a:solidFill>
              </a:rPr>
              <a:t>★★★☆☆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1828800"/>
            <a:ext cx="8503920" cy="557784"/>
          </a:xfrm>
          <a:prstGeom prst="roundRect">
            <a:avLst>
              <a:gd name="adj" fmla="val 9836"/>
            </a:avLst>
          </a:prstGeom>
          <a:solidFill>
            <a:srgbClr val="F8FB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828800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🇳🇱 Nizozemsko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1828800"/>
            <a:ext cx="9601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Jednotná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97480" y="1828800"/>
            <a:ext cx="16916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Congestion Mgmt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1828800"/>
            <a:ext cx="914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Klíčová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1828800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Flexibilní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1828800"/>
            <a:ext cx="1005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Vysoká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1828800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7820"/>
                </a:solidFill>
              </a:rPr>
              <a:t>★★★★☆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441448"/>
            <a:ext cx="8503920" cy="557784"/>
          </a:xfrm>
          <a:prstGeom prst="roundRect">
            <a:avLst>
              <a:gd name="adj" fmla="val 983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441448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🇮🇹 Itálie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37360" y="2441448"/>
            <a:ext cx="9601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Zonální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2441448"/>
            <a:ext cx="16916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Zonální ceny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0" y="2441448"/>
            <a:ext cx="914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Střední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2441448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Přechodový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2441448"/>
            <a:ext cx="1005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Rozvíjí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60920" y="2441448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7820"/>
                </a:solidFill>
              </a:rPr>
              <a:t>★★★☆☆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054096"/>
            <a:ext cx="8503920" cy="557784"/>
          </a:xfrm>
          <a:prstGeom prst="roundRect">
            <a:avLst>
              <a:gd name="adj" fmla="val 9836"/>
            </a:avLst>
          </a:prstGeom>
          <a:solidFill>
            <a:srgbClr val="F8FB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054096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🇸🇪 Švédsko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737360" y="3054096"/>
            <a:ext cx="9601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Cen. oblasti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97480" y="3054096"/>
            <a:ext cx="16916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Tržní řešení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89120" y="3054096"/>
            <a:ext cx="914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Aktivní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03520" y="3054096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Flexibilní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55080" y="3054096"/>
            <a:ext cx="1005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Vysoká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60920" y="3054096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7820"/>
                </a:solidFill>
              </a:rPr>
              <a:t>★★★★☆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666744"/>
            <a:ext cx="8503920" cy="557784"/>
          </a:xfrm>
          <a:prstGeom prst="roundRect">
            <a:avLst>
              <a:gd name="adj" fmla="val 9836"/>
            </a:avLst>
          </a:prstGeom>
          <a:solidFill>
            <a:srgbClr val="D6EE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666744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🇬🇧 V. Británie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737360" y="3666744"/>
            <a:ext cx="9601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Jednotná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697480" y="3666744"/>
            <a:ext cx="16916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DFS + DSO flex.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89120" y="3666744"/>
            <a:ext cx="914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Aktivní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03520" y="3666744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Flexibilní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55080" y="3666744"/>
            <a:ext cx="1005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Nejvyšší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60920" y="3666744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7820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4279392"/>
            <a:ext cx="8503920" cy="557784"/>
          </a:xfrm>
          <a:prstGeom prst="roundRect">
            <a:avLst>
              <a:gd name="adj" fmla="val 9836"/>
            </a:avLst>
          </a:prstGeom>
          <a:solidFill>
            <a:srgbClr val="F8FBFF"/>
          </a:solidFill>
          <a:ln w="12700">
            <a:solidFill>
              <a:srgbClr val="A8D4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279392"/>
            <a:ext cx="14173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🇵🇱 Polsko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737360" y="4279392"/>
            <a:ext cx="9601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Jednotná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697480" y="4279392"/>
            <a:ext cx="16916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Kapacitní trh+DSR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89120" y="4279392"/>
            <a:ext cx="914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Pasivní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03520" y="4279392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Tradiční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55080" y="4279392"/>
            <a:ext cx="1005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Nízká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360920" y="4279392"/>
            <a:ext cx="1051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7820"/>
                </a:solidFill>
              </a:rPr>
              <a:t>★★☆☆☆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" y="4727448"/>
            <a:ext cx="8503920" cy="256032"/>
          </a:xfrm>
          <a:prstGeom prst="roundRect">
            <a:avLst>
              <a:gd name="adj" fmla="val 14286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47274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07820"/>
                </a:solidFill>
              </a:rPr>
              <a:t>Flexibilita přestává být pouze doplňkový nástroj — stává se základním pilířem moderní elektroenergetiky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Závěry a klíčová zjištění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FFF0E0"/>
          </a:solidFill>
          <a:ln w="12700">
            <a:solidFill>
              <a:srgbClr val="FFF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2926080"/>
            <a:ext cx="1828800" cy="1828800"/>
          </a:xfrm>
          <a:prstGeom prst="ellipse">
            <a:avLst/>
          </a:prstGeom>
          <a:solidFill>
            <a:srgbClr val="D6EEFF"/>
          </a:solidFill>
          <a:ln w="12700">
            <a:solidFill>
              <a:srgbClr val="D6E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69080" cy="1115568"/>
          </a:xfrm>
          <a:prstGeom prst="roundRect">
            <a:avLst>
              <a:gd name="adj" fmla="val 7377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271016"/>
            <a:ext cx="457200" cy="457200"/>
          </a:xfrm>
          <a:prstGeom prst="ellipse">
            <a:avLst/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71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</a:rPr>
              <a:t>Velká Británie a Nizozemsko jsou lídry aktivního využívání flexibility v každodenním provozu sítí i při zapojování zákazníků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069080" cy="1115568"/>
          </a:xfrm>
          <a:prstGeom prst="roundRect">
            <a:avLst>
              <a:gd name="adj" fmla="val 7377"/>
            </a:avLst>
          </a:prstGeom>
          <a:solidFill>
            <a:srgbClr val="D6EEFF"/>
          </a:solidFill>
          <a:ln w="12700">
            <a:solidFill>
              <a:srgbClr val="2E7DC4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82896" y="1271016"/>
            <a:ext cx="457200" cy="457200"/>
          </a:xfrm>
          <a:prstGeom prst="ellipse">
            <a:avLst/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271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13248" y="1051560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</a:rPr>
              <a:t>Německo má největší absolutní potenciál (15–40 TWh/rok), ale čelí přenosovým omezením sever–jih vyžadujícím masivní redispečink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4069080" cy="1115568"/>
          </a:xfrm>
          <a:prstGeom prst="roundRect">
            <a:avLst>
              <a:gd name="adj" fmla="val 7377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2295144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</a:rPr>
              <a:t>Švédsko těží z přirozené flexibility vodních elektráren — ostatní země tuto kapacitu teprve budují prostřednictvím baterií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3168" y="2203704"/>
            <a:ext cx="4069080" cy="1115568"/>
          </a:xfrm>
          <a:prstGeom prst="roundRect">
            <a:avLst>
              <a:gd name="adj" fmla="val 7377"/>
            </a:avLst>
          </a:prstGeom>
          <a:solidFill>
            <a:srgbClr val="D6EEFF"/>
          </a:solidFill>
          <a:ln w="12700">
            <a:solidFill>
              <a:srgbClr val="2E7DC4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82896" y="2514600"/>
            <a:ext cx="457200" cy="457200"/>
          </a:xfrm>
          <a:prstGeom prst="ellipse">
            <a:avLst/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13248" y="2295144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</a:rPr>
              <a:t>Itálie staví na bateriové akumulaci (plán 71,5 GWh do 2030 přes MACSE) a zonálních cenách jako motivaci flexibility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447288"/>
            <a:ext cx="4069080" cy="1115568"/>
          </a:xfrm>
          <a:prstGeom prst="roundRect">
            <a:avLst>
              <a:gd name="adj" fmla="val 7377"/>
            </a:avLst>
          </a:prstGeom>
          <a:solidFill>
            <a:srgbClr val="FFF0E0"/>
          </a:solidFill>
          <a:ln w="12700">
            <a:solidFill>
              <a:srgbClr val="F07820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758184"/>
            <a:ext cx="457200" cy="457200"/>
          </a:xfrm>
          <a:prstGeom prst="ellipse">
            <a:avLst/>
          </a:prstGeom>
          <a:solidFill>
            <a:srgbClr val="F07820">
              <a:alpha val="80000"/>
            </a:srgbClr>
          </a:solidFill>
          <a:ln w="12700">
            <a:solidFill>
              <a:srgbClr val="F078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7280" y="3538728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</a:rPr>
              <a:t>Polsko je ve fázi transformace — s rapidním růstem FVE a offshore větru poroste i potřeba a rozvoj flexibility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73168" y="3447288"/>
            <a:ext cx="4069080" cy="1115568"/>
          </a:xfrm>
          <a:prstGeom prst="roundRect">
            <a:avLst>
              <a:gd name="adj" fmla="val 7377"/>
            </a:avLst>
          </a:prstGeom>
          <a:solidFill>
            <a:srgbClr val="D6EEFF"/>
          </a:solidFill>
          <a:ln w="12700">
            <a:solidFill>
              <a:srgbClr val="2E7DC4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2E7DC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82896" y="3758184"/>
            <a:ext cx="457200" cy="457200"/>
          </a:xfrm>
          <a:prstGeom prst="ellipse">
            <a:avLst/>
          </a:prstGeom>
          <a:solidFill>
            <a:srgbClr val="2E7DC4">
              <a:alpha val="80000"/>
            </a:srgbClr>
          </a:solidFill>
          <a:ln w="12700">
            <a:solidFill>
              <a:srgbClr val="2E7DC4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13248" y="3538728"/>
            <a:ext cx="3337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</a:rPr>
              <a:t>Společný trend: DSO přechází od pasivního provozu sítí k aktivnímu řízení flexibility; agregátoři a zákazníci jsou klíčoví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BAA"/>
                </a:solidFill>
              </a:rPr>
              <a:t>Zdroj: ORGREZ, a.s. — Rešeršní analytická zpráva, Jan Šulc, 08.06.2026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1206</Words>
  <Application>Microsoft Office PowerPoint</Application>
  <PresentationFormat>Předvádění na obrazovce (16:9)</PresentationFormat>
  <Paragraphs>254</Paragraphs>
  <Slides>11</Slides>
  <Notes>11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Srovnání státních strategií flexibility</dc:title>
  <dc:subject>PptxGenJS Presentation</dc:subject>
  <dc:creator>PptxGenJS</dc:creator>
  <cp:lastModifiedBy>Jan Subrta</cp:lastModifiedBy>
  <cp:revision>5</cp:revision>
  <dcterms:created xsi:type="dcterms:W3CDTF">2026-06-22T12:00:14Z</dcterms:created>
  <dcterms:modified xsi:type="dcterms:W3CDTF">2026-06-22T18:27:56Z</dcterms:modified>
</cp:coreProperties>
</file>